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ed Hat Display SemiBold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Red Hat Display Medium"/>
      <p:regular r:id="rId23"/>
      <p:bold r:id="rId24"/>
      <p:italic r:id="rId25"/>
      <p:boldItalic r:id="rId26"/>
    </p:embeddedFont>
    <p:embeddedFont>
      <p:font typeface="Red Hat Display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RedHatDisplayMedium-bold.fntdata"/><Relationship Id="rId23" Type="http://schemas.openxmlformats.org/officeDocument/2006/relationships/font" Target="fonts/RedHatDisplayMedium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edHatDisplayMedium-boldItalic.fntdata"/><Relationship Id="rId25" Type="http://schemas.openxmlformats.org/officeDocument/2006/relationships/font" Target="fonts/RedHatDisplayMedium-italic.fntdata"/><Relationship Id="rId28" Type="http://schemas.openxmlformats.org/officeDocument/2006/relationships/font" Target="fonts/RedHatDisplay-bold.fntdata"/><Relationship Id="rId27" Type="http://schemas.openxmlformats.org/officeDocument/2006/relationships/font" Target="fonts/RedHatDisplay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edHatDispl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RedHatDisplay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edHatDisplaySemiBold-regular.fntdata"/><Relationship Id="rId14" Type="http://schemas.openxmlformats.org/officeDocument/2006/relationships/slide" Target="slides/slide8.xml"/><Relationship Id="rId17" Type="http://schemas.openxmlformats.org/officeDocument/2006/relationships/font" Target="fonts/RedHatDisplaySemiBold-italic.fntdata"/><Relationship Id="rId16" Type="http://schemas.openxmlformats.org/officeDocument/2006/relationships/font" Target="fonts/RedHatDisplaySemiBold-bold.fntdata"/><Relationship Id="rId19" Type="http://schemas.openxmlformats.org/officeDocument/2006/relationships/font" Target="fonts/Roboto-regular.fntdata"/><Relationship Id="rId18" Type="http://schemas.openxmlformats.org/officeDocument/2006/relationships/font" Target="fonts/RedHatDisplay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8b3ef2755f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8b3ef2755f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8b3ef2755f_0_1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8b3ef2755f_0_1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8b3ef2755f_0_1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8b3ef2755f_0_1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8b3ef2755f_0_1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8b3ef2755f_0_1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8b3ef2755f_0_1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8b3ef2755f_0_1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8b3ef2755f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8b3ef2755f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8b3ef2755f_0_1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8b3ef2755f_0_1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8b3ef2755f_0_1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8b3ef2755f_0_1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1" name="Google Shape;101;p14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122" name="Google Shape;122;p15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5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4" name="Google Shape;124;p15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5" name="Google Shape;125;p15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1" name="Google Shape;151;p16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7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154" name="Google Shape;154;p17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9" name="Google Shape;179;p17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3" name="Google Shape;183;p17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4" name="Google Shape;184;p17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226" name="Google Shape;226;p17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227" name="Google Shape;227;p1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5" name="Google Shape;235;p1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6" name="Google Shape;236;p1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7" name="Google Shape;237;p1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9" name="Google Shape;239;p1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40" name="Google Shape;240;p1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251" name="Google Shape;251;p17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2" name="Google Shape;252;p17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55" name="Google Shape;255;p18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18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18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18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18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18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1" name="Google Shape;261;p18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62" name="Google Shape;262;p18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3" name="Google Shape;263;p18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64" name="Google Shape;264;p18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5" name="Google Shape;265;p18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66" name="Google Shape;266;p18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7" name="Google Shape;267;p18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68" name="Google Shape;268;p18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9" name="Google Shape;269;p18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72" name="Google Shape;272;p19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76" name="Google Shape;276;p19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19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19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19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19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19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2" name="Google Shape;282;p19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83" name="Google Shape;283;p19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4" name="Google Shape;284;p19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85" name="Google Shape;285;p19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19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87" name="Google Shape;287;p19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8" name="Google Shape;288;p19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89" name="Google Shape;289;p19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0" name="Google Shape;290;p19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91" name="Google Shape;291;p19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2" name="Google Shape;292;p19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3" name="Google Shape;293;p19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94" name="Google Shape;294;p19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5" name="Google Shape;295;p19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21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01" name="Google Shape;301;p21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2" name="Google Shape;302;p21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03" name="Google Shape;303;p21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4" name="Google Shape;304;p21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05" name="Google Shape;305;p21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06" name="Google Shape;306;p21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7" name="Google Shape;307;p21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08" name="Google Shape;308;p21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9" name="Google Shape;309;p21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2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12" name="Google Shape;312;p22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313" name="Google Shape;313;p22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314" name="Google Shape;314;p22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315" name="Google Shape;315;p22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6" name="Google Shape;316;p22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317" name="Google Shape;317;p22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22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319" name="Google Shape;319;p22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0" name="Google Shape;320;p22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321" name="Google Shape;321;p22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2" name="Google Shape;322;p22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3" name="Google Shape;323;p22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3"/>
          <p:cNvPicPr preferRelativeResize="0"/>
          <p:nvPr/>
        </p:nvPicPr>
        <p:blipFill rotWithShape="1">
          <a:blip r:embed="rId2">
            <a:alphaModFix/>
          </a:blip>
          <a:srcRect b="7467" l="0" r="17932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3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27" name="Google Shape;327;p23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28" name="Google Shape;328;p23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29" name="Google Shape;329;p23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30" name="Google Shape;330;p23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31" name="Google Shape;331;p23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32" name="Google Shape;332;p23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4"/>
          <p:cNvPicPr preferRelativeResize="0"/>
          <p:nvPr/>
        </p:nvPicPr>
        <p:blipFill rotWithShape="1">
          <a:blip r:embed="rId2">
            <a:alphaModFix/>
          </a:blip>
          <a:srcRect b="15068" l="14900" r="18071" t="15236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4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6" name="Google Shape;336;p24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37" name="Google Shape;337;p24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24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9" name="Google Shape;339;p24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340" name="Google Shape;340;p24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41" name="Google Shape;341;p24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342" name="Google Shape;342;p24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43" name="Google Shape;343;p24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344" name="Google Shape;344;p24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45" name="Google Shape;345;p24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25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49" name="Google Shape;349;p25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50" name="Google Shape;350;p25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51" name="Google Shape;351;p25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53" name="Google Shape;353;p25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54" name="Google Shape;354;p25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55" name="Google Shape;355;p25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356" name="Google Shape;356;p25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357" name="Google Shape;357;p25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60" name="Google Shape;360;p26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1" name="Google Shape;361;p26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2" name="Google Shape;362;p26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3" name="Google Shape;363;p26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65" name="Google Shape;365;p26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66" name="Google Shape;366;p26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67" name="Google Shape;367;p26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68" name="Google Shape;368;p26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69" name="Google Shape;369;p2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72" name="Google Shape;372;p27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3" name="Google Shape;373;p2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4" name="Google Shape;374;p2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5" name="Google Shape;375;p27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76" name="Google Shape;376;p27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77" name="Google Shape;377;p27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78" name="Google Shape;378;p27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79" name="Google Shape;379;p27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0" name="Google Shape;380;p27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1" name="Google Shape;381;p27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2" name="Google Shape;382;p27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3" name="Google Shape;383;p27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4" name="Google Shape;384;p27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5" name="Google Shape;385;p27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6" name="Google Shape;386;p27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7" name="Google Shape;387;p27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8" name="Google Shape;388;p27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9" name="Google Shape;389;p27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0" name="Google Shape;390;p27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1" name="Google Shape;391;p27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2" name="Google Shape;392;p27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3" name="Google Shape;393;p27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4" name="Google Shape;394;p27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5" name="Google Shape;395;p27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6" name="Google Shape;396;p27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7" name="Google Shape;397;p27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400" name="Google Shape;400;p2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01" name="Google Shape;401;p2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2" name="Google Shape;402;p28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03" name="Google Shape;403;p28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04" name="Google Shape;404;p28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05" name="Google Shape;405;p28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06" name="Google Shape;406;p28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07" name="Google Shape;407;p28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408" name="Google Shape;408;p28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409" name="Google Shape;409;p28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410" name="Google Shape;410;p28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411" name="Google Shape;411;p28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414" name="Google Shape;414;p2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2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6" name="Google Shape;416;p29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420" name="Google Shape;420;p29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421" name="Google Shape;421;p29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5" name="Google Shape;425;p29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6" name="Google Shape;426;p29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8" name="Google Shape;428;p29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0" name="Google Shape;430;p29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1" name="Google Shape;431;p29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5" name="Google Shape;435;p29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6" name="Google Shape;436;p29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41" name="Google Shape;441;p29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42" name="Google Shape;442;p29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43" name="Google Shape;443;p29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445" name="Google Shape;445;p29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446" name="Google Shape;446;p29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0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449" name="Google Shape;449;p30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50" name="Google Shape;450;p30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51" name="Google Shape;451;p30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2" name="Google Shape;452;p30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3" name="Google Shape;453;p30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4" name="Google Shape;454;p30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455" name="Google Shape;455;p30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456" name="Google Shape;456;p30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1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59" name="Google Shape;459;p31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460" name="Google Shape;460;p31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1" name="Google Shape;461;p31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62" name="Google Shape;462;p31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63" name="Google Shape;463;p31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31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65" name="Google Shape;465;p31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466" name="Google Shape;466;p31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467" name="Google Shape;467;p31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468" name="Google Shape;468;p31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0" name="Google Shape;470;p32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32"/>
          <p:cNvCxnSpPr>
            <a:stCxn id="472" idx="1"/>
            <a:endCxn id="473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32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32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" name="Google Shape;472;p32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76" name="Google Shape;476;p32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32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77" name="Google Shape;477;p32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" name="Google Shape;478;p32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79" name="Google Shape;479;p32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80" name="Google Shape;480;p32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2" name="Google Shape;482;p33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33"/>
          <p:cNvCxnSpPr>
            <a:stCxn id="484" idx="1"/>
            <a:endCxn id="485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33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33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4" name="Google Shape;484;p33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88" name="Google Shape;488;p33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5" name="Google Shape;485;p33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89" name="Google Shape;489;p33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" name="Google Shape;490;p33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1" name="Google Shape;491;p33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92" name="Google Shape;492;p33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4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95" name="Google Shape;495;p34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6" name="Google Shape;496;p34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7" name="Google Shape;497;p34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8" name="Google Shape;498;p34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9" name="Google Shape;499;p34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00" name="Google Shape;500;p34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1" name="Google Shape;501;p34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502" name="Google Shape;502;p34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3" name="Google Shape;503;p34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504" name="Google Shape;504;p34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5" name="Google Shape;505;p34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506" name="Google Shape;506;p34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7" name="Google Shape;507;p34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508" name="Google Shape;508;p34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9" name="Google Shape;509;p34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510" name="Google Shape;510;p34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5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513" name="Google Shape;513;p35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4" name="Google Shape;514;p35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15" name="Google Shape;515;p35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16" name="Google Shape;516;p35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17" name="Google Shape;517;p35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18" name="Google Shape;518;p35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519" name="Google Shape;519;p35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520" name="Google Shape;520;p35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521" name="Google Shape;521;p35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522" name="Google Shape;522;p35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6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5" name="Google Shape;525;p36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6" name="Google Shape;526;p36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527" name="Google Shape;527;p36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528" name="Google Shape;528;p36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529" name="Google Shape;529;p36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530" name="Google Shape;530;p36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531" name="Google Shape;531;p36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532" name="Google Shape;532;p36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37" name="Google Shape;53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40" name="Google Shape;540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1" name="Google Shape;541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44" name="Google Shape;544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9" name="Google Shape;549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0" name="Google Shape;550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5" name="Google Shape;555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59" name="Google Shape;559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0" name="Google Shape;560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3" name="Google Shape;563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4" name="Google Shape;564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65" name="Google Shape;565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9" name="Google Shape;569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70" name="Google Shape;570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1" name="Google Shape;571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2" name="Google Shape;572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3" name="Google Shape;573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4" name="Google Shape;574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7" name="Google Shape;577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78" name="Google Shape;578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79" name="Google Shape;579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80" name="Google Shape;580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81" name="Google Shape;581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2" name="Google Shape;582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3" name="Google Shape;583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4" name="Google Shape;584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87" name="Google Shape;587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0" name="Google Shape;590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3" name="Google Shape;59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94" name="Google Shape;594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5" name="Google Shape;595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8" name="Google Shape;598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9" name="Google Shape;599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00" name="Google Shape;600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01" name="Google Shape;601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02" name="Google Shape;602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03" name="Google Shape;60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04" name="Google Shape;604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5" name="Google Shape;605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6" name="Google Shape;606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5" name="Google Shape;615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6" name="Google Shape;616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17" name="Google Shape;617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8" name="Google Shape;618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9" name="Google Shape;619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theme" Target="../theme/theme2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5"/>
          <p:cNvSpPr txBox="1"/>
          <p:nvPr>
            <p:ph type="title"/>
          </p:nvPr>
        </p:nvSpPr>
        <p:spPr>
          <a:xfrm>
            <a:off x="274200" y="3405496"/>
            <a:ext cx="5760900" cy="624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Towards Data </a:t>
            </a:r>
            <a:r>
              <a:rPr lang="en" sz="3600"/>
              <a:t>Sovereignty</a:t>
            </a:r>
            <a:endParaRPr sz="3600">
              <a:solidFill>
                <a:schemeClr val="dk2"/>
              </a:solidFill>
            </a:endParaRPr>
          </a:p>
        </p:txBody>
      </p:sp>
      <p:sp>
        <p:nvSpPr>
          <p:cNvPr id="625" name="Google Shape;625;p55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Q-Hack 2026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6" name="Google Shape;626;p55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MME TIME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6"/>
          <p:cNvSpPr txBox="1"/>
          <p:nvPr>
            <p:ph idx="1" type="subTitle"/>
          </p:nvPr>
        </p:nvSpPr>
        <p:spPr>
          <a:xfrm>
            <a:off x="3506100" y="2157400"/>
            <a:ext cx="5353200" cy="89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sovereignty is increasing becoming an important aspect for European businesses &amp; consumers, due to rapid AI growth and geopolitical changes </a:t>
            </a:r>
            <a:endParaRPr/>
          </a:p>
        </p:txBody>
      </p:sp>
      <p:sp>
        <p:nvSpPr>
          <p:cNvPr id="632" name="Google Shape;632;p56"/>
          <p:cNvSpPr txBox="1"/>
          <p:nvPr>
            <p:ph type="title"/>
          </p:nvPr>
        </p:nvSpPr>
        <p:spPr>
          <a:xfrm>
            <a:off x="3504450" y="1506825"/>
            <a:ext cx="5152500" cy="5460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Is your data really yours?</a:t>
            </a:r>
            <a:endParaRPr sz="3600"/>
          </a:p>
        </p:txBody>
      </p:sp>
      <p:pic>
        <p:nvPicPr>
          <p:cNvPr id="633" name="Google Shape;633;p56" title="May-gdpr-news-1-removebg-preview.png"/>
          <p:cNvPicPr preferRelativeResize="0"/>
          <p:nvPr/>
        </p:nvPicPr>
        <p:blipFill rotWithShape="1">
          <a:blip r:embed="rId3">
            <a:alphaModFix/>
          </a:blip>
          <a:srcRect b="0" l="7800" r="9219" t="6244"/>
          <a:stretch/>
        </p:blipFill>
        <p:spPr>
          <a:xfrm>
            <a:off x="3506100" y="3337800"/>
            <a:ext cx="4709700" cy="265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7"/>
          <p:cNvSpPr txBox="1"/>
          <p:nvPr/>
        </p:nvSpPr>
        <p:spPr>
          <a:xfrm>
            <a:off x="6802798" y="4793625"/>
            <a:ext cx="2056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Q-Hack 2026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9" name="Google Shape;639;p57"/>
          <p:cNvSpPr txBox="1"/>
          <p:nvPr>
            <p:ph type="title"/>
          </p:nvPr>
        </p:nvSpPr>
        <p:spPr>
          <a:xfrm>
            <a:off x="3444600" y="1580450"/>
            <a:ext cx="39636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Meet DoxShield </a:t>
            </a:r>
            <a:endParaRPr sz="3600"/>
          </a:p>
        </p:txBody>
      </p:sp>
      <p:sp>
        <p:nvSpPr>
          <p:cNvPr id="640" name="Google Shape;640;p57"/>
          <p:cNvSpPr txBox="1"/>
          <p:nvPr>
            <p:ph idx="1" type="subTitle"/>
          </p:nvPr>
        </p:nvSpPr>
        <p:spPr>
          <a:xfrm>
            <a:off x="3444600" y="2217375"/>
            <a:ext cx="4692000" cy="720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 real-time data sovereignty monitor for European consumers and businesses*</a:t>
            </a:r>
            <a:endParaRPr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641" name="Google Shape;641;p57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MME TIME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42" name="Google Shape;642;p57"/>
          <p:cNvPicPr preferRelativeResize="0"/>
          <p:nvPr/>
        </p:nvPicPr>
        <p:blipFill rotWithShape="1">
          <a:blip r:embed="rId3">
            <a:alphaModFix/>
          </a:blip>
          <a:srcRect b="8200" l="3217" r="3534" t="19681"/>
          <a:stretch/>
        </p:blipFill>
        <p:spPr>
          <a:xfrm>
            <a:off x="3444600" y="2986900"/>
            <a:ext cx="1773000" cy="480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643" name="Google Shape;643;p57"/>
          <p:cNvSpPr txBox="1"/>
          <p:nvPr/>
        </p:nvSpPr>
        <p:spPr>
          <a:xfrm>
            <a:off x="3229738" y="3466900"/>
            <a:ext cx="16239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*Beta version available locally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8"/>
          <p:cNvSpPr/>
          <p:nvPr/>
        </p:nvSpPr>
        <p:spPr>
          <a:xfrm>
            <a:off x="228600" y="1459115"/>
            <a:ext cx="2834700" cy="26388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49" name="Google Shape;649;p58"/>
          <p:cNvCxnSpPr/>
          <p:nvPr/>
        </p:nvCxnSpPr>
        <p:spPr>
          <a:xfrm>
            <a:off x="232900" y="2470425"/>
            <a:ext cx="2829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0" name="Google Shape;650;p58"/>
          <p:cNvSpPr/>
          <p:nvPr/>
        </p:nvSpPr>
        <p:spPr>
          <a:xfrm>
            <a:off x="3154650" y="1459115"/>
            <a:ext cx="2834700" cy="26388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51" name="Google Shape;651;p58"/>
          <p:cNvCxnSpPr/>
          <p:nvPr/>
        </p:nvCxnSpPr>
        <p:spPr>
          <a:xfrm>
            <a:off x="3158950" y="2470425"/>
            <a:ext cx="2829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2" name="Google Shape;652;p58"/>
          <p:cNvSpPr/>
          <p:nvPr/>
        </p:nvSpPr>
        <p:spPr>
          <a:xfrm>
            <a:off x="6080700" y="1459115"/>
            <a:ext cx="2834700" cy="26388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53" name="Google Shape;653;p58"/>
          <p:cNvCxnSpPr/>
          <p:nvPr/>
        </p:nvCxnSpPr>
        <p:spPr>
          <a:xfrm>
            <a:off x="6085000" y="2470425"/>
            <a:ext cx="2829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4" name="Google Shape;654;p58"/>
          <p:cNvSpPr txBox="1"/>
          <p:nvPr>
            <p:ph type="title"/>
          </p:nvPr>
        </p:nvSpPr>
        <p:spPr>
          <a:xfrm>
            <a:off x="228600" y="420017"/>
            <a:ext cx="6480300" cy="683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How it works</a:t>
            </a:r>
            <a:endParaRPr sz="3600"/>
          </a:p>
        </p:txBody>
      </p:sp>
      <p:sp>
        <p:nvSpPr>
          <p:cNvPr id="655" name="Google Shape;655;p58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Computes </a:t>
            </a:r>
            <a:r>
              <a:rPr lang="en" sz="1500"/>
              <a:t>sovereignty</a:t>
            </a:r>
            <a:r>
              <a:rPr lang="en" sz="1500"/>
              <a:t> risk score by tracking</a:t>
            </a:r>
            <a:endParaRPr sz="1500"/>
          </a:p>
        </p:txBody>
      </p:sp>
      <p:sp>
        <p:nvSpPr>
          <p:cNvPr id="656" name="Google Shape;656;p58"/>
          <p:cNvSpPr txBox="1"/>
          <p:nvPr>
            <p:ph idx="2" type="subTitle"/>
          </p:nvPr>
        </p:nvSpPr>
        <p:spPr>
          <a:xfrm>
            <a:off x="540525" y="2628027"/>
            <a:ext cx="2199000" cy="7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Apps installed on device</a:t>
            </a:r>
            <a:endParaRPr/>
          </a:p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Cookies stored on browser</a:t>
            </a:r>
            <a:endParaRPr/>
          </a:p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Data flowing to foreign jurisdictions</a:t>
            </a:r>
            <a:endParaRPr/>
          </a:p>
        </p:txBody>
      </p:sp>
      <p:sp>
        <p:nvSpPr>
          <p:cNvPr id="657" name="Google Shape;657;p58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Processed by On-Device Mistral 7B</a:t>
            </a:r>
            <a:endParaRPr sz="1500"/>
          </a:p>
        </p:txBody>
      </p:sp>
      <p:sp>
        <p:nvSpPr>
          <p:cNvPr id="658" name="Google Shape;658;p58"/>
          <p:cNvSpPr txBox="1"/>
          <p:nvPr>
            <p:ph idx="4" type="subTitle"/>
          </p:nvPr>
        </p:nvSpPr>
        <p:spPr>
          <a:xfrm>
            <a:off x="3425550" y="2628031"/>
            <a:ext cx="2199000" cy="1004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Analyses EULA &amp; Privacy Policy of Apps installed</a:t>
            </a:r>
            <a:endParaRPr/>
          </a:p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Tracks transmission destination of cookies</a:t>
            </a:r>
            <a:endParaRPr/>
          </a:p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Matches your foreign stored data with their data laws </a:t>
            </a:r>
            <a:endParaRPr/>
          </a:p>
        </p:txBody>
      </p:sp>
      <p:sp>
        <p:nvSpPr>
          <p:cNvPr id="659" name="Google Shape;659;p58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Providing a Comprehensive Data </a:t>
            </a:r>
            <a:r>
              <a:rPr lang="en" sz="1400"/>
              <a:t>Sovereignty</a:t>
            </a:r>
            <a:r>
              <a:rPr lang="en" sz="1400"/>
              <a:t> Report </a:t>
            </a:r>
            <a:endParaRPr sz="1400"/>
          </a:p>
        </p:txBody>
      </p:sp>
      <p:sp>
        <p:nvSpPr>
          <p:cNvPr id="660" name="Google Shape;660;p58"/>
          <p:cNvSpPr txBox="1"/>
          <p:nvPr>
            <p:ph idx="6" type="subTitle"/>
          </p:nvPr>
        </p:nvSpPr>
        <p:spPr>
          <a:xfrm>
            <a:off x="6392625" y="2628032"/>
            <a:ext cx="2199000" cy="112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Emails alerts when high risk exposures happen</a:t>
            </a:r>
            <a:endParaRPr/>
          </a:p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Provides actionable insights like secure/EU based alternatives</a:t>
            </a:r>
            <a:endParaRPr/>
          </a:p>
          <a:p>
            <a:pPr indent="-11836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Char char="➔"/>
            </a:pPr>
            <a:r>
              <a:rPr lang="en"/>
              <a:t>Detailed organization wide report covering all your employees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9"/>
          <p:cNvSpPr/>
          <p:nvPr/>
        </p:nvSpPr>
        <p:spPr>
          <a:xfrm>
            <a:off x="276013" y="2217575"/>
            <a:ext cx="27627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66" name="Google Shape;666;p59"/>
          <p:cNvSpPr/>
          <p:nvPr/>
        </p:nvSpPr>
        <p:spPr>
          <a:xfrm>
            <a:off x="276013" y="3505600"/>
            <a:ext cx="27627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67" name="Google Shape;667;p59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Month Year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8" name="Google Shape;668;p59"/>
          <p:cNvSpPr txBox="1"/>
          <p:nvPr>
            <p:ph type="title"/>
          </p:nvPr>
        </p:nvSpPr>
        <p:spPr>
          <a:xfrm>
            <a:off x="609600" y="724825"/>
            <a:ext cx="7655700" cy="683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</a:rPr>
              <a:t>Why do you need DoxShield?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669" name="Google Shape;669;p59"/>
          <p:cNvSpPr txBox="1"/>
          <p:nvPr>
            <p:ph idx="2" type="subTitle"/>
          </p:nvPr>
        </p:nvSpPr>
        <p:spPr>
          <a:xfrm>
            <a:off x="398188" y="2219725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Break down complex policies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0" name="Google Shape;670;p59"/>
          <p:cNvSpPr txBox="1"/>
          <p:nvPr>
            <p:ph idx="3" type="subTitle"/>
          </p:nvPr>
        </p:nvSpPr>
        <p:spPr>
          <a:xfrm>
            <a:off x="398188" y="350775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Real time peace of mind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1" name="Google Shape;671;p59"/>
          <p:cNvSpPr txBox="1"/>
          <p:nvPr>
            <p:ph idx="5" type="body"/>
          </p:nvPr>
        </p:nvSpPr>
        <p:spPr>
          <a:xfrm>
            <a:off x="398188" y="3954963"/>
            <a:ext cx="2439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092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➔"/>
            </a:pPr>
            <a:r>
              <a:rPr lang="en" sz="1000"/>
              <a:t>Real time exposure alerts</a:t>
            </a:r>
            <a:endParaRPr sz="1000"/>
          </a:p>
          <a:p>
            <a:pPr indent="-109220" lvl="0" marL="27432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00"/>
              <a:buChar char="➔"/>
            </a:pPr>
            <a:r>
              <a:rPr lang="en" sz="1000"/>
              <a:t>Data never leaves your device</a:t>
            </a:r>
            <a:endParaRPr sz="1000"/>
          </a:p>
        </p:txBody>
      </p:sp>
      <p:sp>
        <p:nvSpPr>
          <p:cNvPr id="672" name="Google Shape;672;p59"/>
          <p:cNvSpPr txBox="1"/>
          <p:nvPr>
            <p:ph idx="6" type="body"/>
          </p:nvPr>
        </p:nvSpPr>
        <p:spPr>
          <a:xfrm>
            <a:off x="398201" y="2666950"/>
            <a:ext cx="25584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092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➔"/>
            </a:pPr>
            <a:r>
              <a:rPr lang="en" sz="1000"/>
              <a:t>Privacy policy &amp; TnC breakdown powered by Mistral 7B</a:t>
            </a:r>
            <a:endParaRPr sz="1000"/>
          </a:p>
          <a:p>
            <a:pPr indent="-109220" lvl="0" marL="27432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00"/>
              <a:buChar char="➔"/>
            </a:pPr>
            <a:r>
              <a:rPr lang="en" sz="1000"/>
              <a:t>Locally installed your devices</a:t>
            </a:r>
            <a:endParaRPr sz="1000"/>
          </a:p>
        </p:txBody>
      </p:sp>
      <p:sp>
        <p:nvSpPr>
          <p:cNvPr id="673" name="Google Shape;673;p59"/>
          <p:cNvSpPr txBox="1"/>
          <p:nvPr>
            <p:ph idx="4" type="subTitle"/>
          </p:nvPr>
        </p:nvSpPr>
        <p:spPr>
          <a:xfrm>
            <a:off x="609600" y="1355925"/>
            <a:ext cx="7265100" cy="58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DoxShield is a locally run, secure way to track </a:t>
            </a:r>
            <a:r>
              <a:rPr lang="en" sz="1500">
                <a:solidFill>
                  <a:schemeClr val="lt1"/>
                </a:solidFill>
              </a:rPr>
              <a:t>and</a:t>
            </a:r>
            <a:r>
              <a:rPr lang="en" sz="1500">
                <a:solidFill>
                  <a:schemeClr val="lt1"/>
                </a:solidFill>
              </a:rPr>
              <a:t> address your your personal data </a:t>
            </a:r>
            <a:r>
              <a:rPr lang="en" sz="1500">
                <a:solidFill>
                  <a:schemeClr val="lt1"/>
                </a:solidFill>
              </a:rPr>
              <a:t>sovereignty</a:t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674" name="Google Shape;674;p59" title="Image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087" y="2209805"/>
            <a:ext cx="6773775" cy="3919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0"/>
          <p:cNvSpPr/>
          <p:nvPr/>
        </p:nvSpPr>
        <p:spPr>
          <a:xfrm>
            <a:off x="332338" y="2104950"/>
            <a:ext cx="27627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80" name="Google Shape;680;p60"/>
          <p:cNvSpPr/>
          <p:nvPr/>
        </p:nvSpPr>
        <p:spPr>
          <a:xfrm>
            <a:off x="3295688" y="2104950"/>
            <a:ext cx="27627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81" name="Google Shape;681;p60"/>
          <p:cNvSpPr/>
          <p:nvPr/>
        </p:nvSpPr>
        <p:spPr>
          <a:xfrm>
            <a:off x="6255513" y="2104950"/>
            <a:ext cx="27627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82" name="Google Shape;682;p60"/>
          <p:cNvSpPr txBox="1"/>
          <p:nvPr>
            <p:ph type="title"/>
          </p:nvPr>
        </p:nvSpPr>
        <p:spPr>
          <a:xfrm>
            <a:off x="609600" y="724825"/>
            <a:ext cx="7655700" cy="683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</a:rPr>
              <a:t>Why does your org need DoxShield?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683" name="Google Shape;683;p60"/>
          <p:cNvSpPr txBox="1"/>
          <p:nvPr>
            <p:ph idx="2" type="subTitle"/>
          </p:nvPr>
        </p:nvSpPr>
        <p:spPr>
          <a:xfrm>
            <a:off x="454513" y="21071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EU friendly tech stack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4" name="Google Shape;684;p60"/>
          <p:cNvSpPr txBox="1"/>
          <p:nvPr>
            <p:ph idx="3" type="subTitle"/>
          </p:nvPr>
        </p:nvSpPr>
        <p:spPr>
          <a:xfrm>
            <a:off x="3417863" y="21071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Seamless connects with your employees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5" name="Google Shape;685;p60"/>
          <p:cNvSpPr txBox="1"/>
          <p:nvPr>
            <p:ph idx="4" type="subTitle"/>
          </p:nvPr>
        </p:nvSpPr>
        <p:spPr>
          <a:xfrm>
            <a:off x="6381213" y="21071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Comprehensive org risk profile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6" name="Google Shape;686;p60"/>
          <p:cNvSpPr txBox="1"/>
          <p:nvPr>
            <p:ph idx="5" type="body"/>
          </p:nvPr>
        </p:nvSpPr>
        <p:spPr>
          <a:xfrm>
            <a:off x="3417863" y="2554313"/>
            <a:ext cx="2439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092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➔"/>
            </a:pPr>
            <a:r>
              <a:rPr lang="en" sz="1000"/>
              <a:t>Tracks and protects sensitive info</a:t>
            </a:r>
            <a:endParaRPr sz="1000"/>
          </a:p>
          <a:p>
            <a:pPr indent="-109220" lvl="0" marL="27432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00"/>
              <a:buChar char="➔"/>
            </a:pPr>
            <a:r>
              <a:rPr lang="en" sz="1000"/>
              <a:t>Data never leaves the device</a:t>
            </a:r>
            <a:endParaRPr sz="1000"/>
          </a:p>
        </p:txBody>
      </p:sp>
      <p:sp>
        <p:nvSpPr>
          <p:cNvPr id="687" name="Google Shape;687;p60"/>
          <p:cNvSpPr txBox="1"/>
          <p:nvPr>
            <p:ph idx="6" type="body"/>
          </p:nvPr>
        </p:nvSpPr>
        <p:spPr>
          <a:xfrm>
            <a:off x="454513" y="2554313"/>
            <a:ext cx="2439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092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➔"/>
            </a:pPr>
            <a:r>
              <a:rPr lang="en" sz="1000"/>
              <a:t>Analysis by Mistral 7B</a:t>
            </a:r>
            <a:endParaRPr sz="1000"/>
          </a:p>
          <a:p>
            <a:pPr indent="-109220" lvl="0" marL="27432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00"/>
              <a:buChar char="➔"/>
            </a:pPr>
            <a:r>
              <a:rPr lang="en" sz="1000"/>
              <a:t>Locally installed on devices</a:t>
            </a:r>
            <a:endParaRPr sz="1000"/>
          </a:p>
        </p:txBody>
      </p:sp>
      <p:sp>
        <p:nvSpPr>
          <p:cNvPr id="688" name="Google Shape;688;p60"/>
          <p:cNvSpPr txBox="1"/>
          <p:nvPr>
            <p:ph idx="7" type="body"/>
          </p:nvPr>
        </p:nvSpPr>
        <p:spPr>
          <a:xfrm>
            <a:off x="6381213" y="2554313"/>
            <a:ext cx="2439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092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➔"/>
            </a:pPr>
            <a:r>
              <a:rPr lang="en" sz="1000"/>
              <a:t>Tracks key sovereignty metrics</a:t>
            </a:r>
            <a:endParaRPr sz="1000"/>
          </a:p>
          <a:p>
            <a:pPr indent="-109220" lvl="0" marL="27432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00"/>
              <a:buChar char="➔"/>
            </a:pPr>
            <a:r>
              <a:rPr lang="en" sz="1000"/>
              <a:t>Generates comprehensive reports</a:t>
            </a:r>
            <a:endParaRPr sz="1000"/>
          </a:p>
        </p:txBody>
      </p:sp>
      <p:sp>
        <p:nvSpPr>
          <p:cNvPr id="689" name="Google Shape;689;p60"/>
          <p:cNvSpPr txBox="1"/>
          <p:nvPr>
            <p:ph idx="4" type="subTitle"/>
          </p:nvPr>
        </p:nvSpPr>
        <p:spPr>
          <a:xfrm>
            <a:off x="609600" y="1355925"/>
            <a:ext cx="7265100" cy="58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DoxShield is a locally run, secure way to track and address your company’s data sovereignty</a:t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690" name="Google Shape;690;p60" title="Screenshot 2026-04-09 at 3.17.4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292" y="3337788"/>
            <a:ext cx="8839204" cy="832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1"/>
          <p:cNvSpPr/>
          <p:nvPr/>
        </p:nvSpPr>
        <p:spPr>
          <a:xfrm>
            <a:off x="4618950" y="2669663"/>
            <a:ext cx="1158300" cy="3300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96" name="Google Shape;696;p61"/>
          <p:cNvSpPr/>
          <p:nvPr/>
        </p:nvSpPr>
        <p:spPr>
          <a:xfrm>
            <a:off x="5776325" y="2669669"/>
            <a:ext cx="2561100" cy="6519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97" name="Google Shape;697;p61"/>
          <p:cNvSpPr/>
          <p:nvPr/>
        </p:nvSpPr>
        <p:spPr>
          <a:xfrm>
            <a:off x="5776325" y="3321563"/>
            <a:ext cx="2561100" cy="6519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98" name="Google Shape;698;p61"/>
          <p:cNvSpPr/>
          <p:nvPr/>
        </p:nvSpPr>
        <p:spPr>
          <a:xfrm>
            <a:off x="4618950" y="1600100"/>
            <a:ext cx="1158300" cy="3300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99" name="Google Shape;699;p61"/>
          <p:cNvSpPr/>
          <p:nvPr/>
        </p:nvSpPr>
        <p:spPr>
          <a:xfrm>
            <a:off x="5776325" y="1600100"/>
            <a:ext cx="2561100" cy="6519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700" name="Google Shape;700;p61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Monetization</a:t>
            </a:r>
            <a:endParaRPr sz="3600"/>
          </a:p>
        </p:txBody>
      </p:sp>
      <p:sp>
        <p:nvSpPr>
          <p:cNvPr id="701" name="Google Shape;701;p61"/>
          <p:cNvSpPr txBox="1"/>
          <p:nvPr>
            <p:ph idx="1" type="subTitle"/>
          </p:nvPr>
        </p:nvSpPr>
        <p:spPr>
          <a:xfrm>
            <a:off x="228600" y="1399325"/>
            <a:ext cx="2641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how we plan to monetize the product</a:t>
            </a:r>
            <a:endParaRPr/>
          </a:p>
        </p:txBody>
      </p:sp>
      <p:sp>
        <p:nvSpPr>
          <p:cNvPr id="702" name="Google Shape;702;p61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Consumer</a:t>
            </a:r>
            <a:endParaRPr/>
          </a:p>
        </p:txBody>
      </p:sp>
      <p:sp>
        <p:nvSpPr>
          <p:cNvPr id="703" name="Google Shape;703;p61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time 39€ purchase</a:t>
            </a:r>
            <a:endParaRPr/>
          </a:p>
        </p:txBody>
      </p:sp>
      <p:sp>
        <p:nvSpPr>
          <p:cNvPr id="704" name="Google Shape;704;p61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 14 day trial</a:t>
            </a:r>
            <a:endParaRPr/>
          </a:p>
        </p:txBody>
      </p:sp>
      <p:sp>
        <p:nvSpPr>
          <p:cNvPr id="705" name="Google Shape;705;p61"/>
          <p:cNvSpPr txBox="1"/>
          <p:nvPr>
            <p:ph idx="5" type="subTitle"/>
          </p:nvPr>
        </p:nvSpPr>
        <p:spPr>
          <a:xfrm>
            <a:off x="6129000" y="33215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</a:t>
            </a:r>
            <a:r>
              <a:rPr lang="en">
                <a:solidFill>
                  <a:schemeClr val="dk2"/>
                </a:solidFill>
              </a:rPr>
              <a:t>9€ per seat (minimum 5)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61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2"/>
          <p:cNvSpPr txBox="1"/>
          <p:nvPr>
            <p:ph type="title"/>
          </p:nvPr>
        </p:nvSpPr>
        <p:spPr>
          <a:xfrm>
            <a:off x="3063300" y="199865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712" name="Google Shape;712;p62"/>
          <p:cNvSpPr txBox="1"/>
          <p:nvPr>
            <p:ph idx="1" type="subTitle"/>
          </p:nvPr>
        </p:nvSpPr>
        <p:spPr>
          <a:xfrm>
            <a:off x="3063300" y="2638450"/>
            <a:ext cx="55995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MME TIME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